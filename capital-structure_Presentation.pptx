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gerian" panose="04020705040A02060702" pitchFamily="82" charset="0"/>
      <p:regular r:id="rId13"/>
    </p:embeddedFont>
    <p:embeddedFont>
      <p:font typeface="Open Sans" panose="020F050202020403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8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80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02AF-4033-7D56-00D7-7A4FE1BA2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ECAA6-6629-C592-0435-D9A00287F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662DD-61E3-2695-AB02-16BCDC31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6EB4-7B75-698F-4D1D-95E11B2D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C8B6-CB75-DC29-6732-4499A828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8614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47EB-9CFA-C4E4-4C78-08C9F2A3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E2AFA-1F54-EAE1-C6FE-E8AEBB461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37810-AB7C-0AE4-8BB0-DC17E453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FF450-4514-BF98-1535-C5EF4625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37576-A252-1BDF-547E-1318606C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480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7322-6711-B851-DB26-F20EB4C3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B8360-E33A-5747-6FC6-DAB642338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FFEF6-7B89-937C-95A8-0FA48018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497A1-E4F3-0A2A-55FA-7386CA76D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4DEF1-057C-3422-F750-D048F8E91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19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C4FC-98F7-CD40-96F0-A2FA1E83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AD8E5-439B-A56B-6966-6481994B3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2F255-34D3-23D9-A889-BB1942ECA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8215-2326-C0DF-D21C-B0CE1DC2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F420D-C544-A938-3D97-F6567B33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E5ACE-AFE9-F722-D528-D1145946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8608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702D-65B3-426E-AA6E-A124C6A1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4BA7-319F-A325-B320-13572CA49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30522-BDD8-76D9-AF05-4029BE841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C400D-9162-2392-BE75-2D93159F3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1F118-AFF6-D6DF-2461-FB4DCE907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3BDE80-7D3D-98CF-0265-DD9FFC80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E362AD-74B1-3614-23FF-5A58EE6F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413BD-BB08-345C-2DF4-5B9CB59D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13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2459-E96C-ECD3-65BD-2FD5FA0C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D13AD-5E9F-D909-15A0-58D1D002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E403E-D64F-9356-6AFC-F65D641E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20DBA-C924-957F-87D3-89C5C955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9898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B608C-EA38-DDF7-FB6E-E48DA96C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A0861B-9261-FBD7-B444-3FDEDB26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58412-79FA-AEB1-1D15-09B7DE286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0152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0ECB-C98E-3332-9015-9118519A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F8E5-1220-9839-72E9-1D772119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329AD-84E2-F0C1-E79B-EF961177A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E9125-57BA-5060-0FF9-5FAA9803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28C0E-E916-5A8E-E078-66713293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A954F-E5CF-CAC7-E179-D333CBDA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178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A2B8-1694-0D53-9BEE-11885FDA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3F52C-2B23-ABAB-2ABF-F787D8AB8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E43F2-2C0C-E73B-7499-89C6A74DD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771FF-68DA-1B22-8531-9CC69615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D227-A125-50C1-FF69-1CDD64D4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C1A18-C0E4-16DC-2C2E-76FF9532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72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F6E7-66DC-9803-9B5B-51E16682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EFE72-FE97-12DF-418A-2008538A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F9116-FF4E-CE82-7DC3-F780F221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1E01B-C184-7384-7F1B-ED7921E7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2A4E1-0FEF-660D-AA88-EB106D8B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874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F1564-AACD-C8A7-70A0-1ABCA303C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CCE2A-C809-0B94-F7FB-1851FF09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DA4C0-C31C-DAA4-F63B-7602DF5B3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77A25-5CC1-C80D-6530-75943421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3A125-DE1A-4146-0869-8FC28CA1C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478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497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44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628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327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48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346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762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18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7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281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7CEB5-94CA-8E1B-F052-2C96A7B1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3DF52-1F15-B352-047F-24D960249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1CE84-03D3-ABAC-DACB-9FDC39A88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C2F32-3354-4D85-A9A3-2EF8FB74153E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71AB0-E34C-5067-AF67-1A46D6F6D8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6D11-2EA8-BF68-2B6D-D0FF0CCAA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B41B4-1D95-4A75-A64A-D4208E4214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79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085" y="11136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Capital Structure and Firm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87085" y="2791972"/>
            <a:ext cx="7249716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 Comparative Study of Indian Automobile and IT Industries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87085" y="432819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Course: Corporate Finance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D8E0238-F18C-3D31-BBED-96616D509CCD}"/>
              </a:ext>
            </a:extLst>
          </p:cNvPr>
          <p:cNvSpPr/>
          <p:nvPr/>
        </p:nvSpPr>
        <p:spPr>
          <a:xfrm>
            <a:off x="5679584" y="6040549"/>
            <a:ext cx="3696236" cy="21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BY:  </a:t>
            </a: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– 2</a:t>
            </a:r>
          </a:p>
          <a:p>
            <a:r>
              <a:rPr lang="en-IN" dirty="0"/>
              <a:t>AKANSHA SAINI (25PGDMFM006)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75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224" y="512445"/>
            <a:ext cx="4659392" cy="582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Introduction</a:t>
            </a:r>
            <a:endParaRPr lang="en-US" sz="365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2224" y="1541978"/>
            <a:ext cx="7124700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Capital structure refers to how firms use a mix of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and equity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finance their operations. These decisions directly influence a company’s risk level, profitability, and ability to grow.</a:t>
            </a:r>
          </a:p>
          <a:p>
            <a:pPr marL="0" indent="0" algn="l">
              <a:lnSpc>
                <a:spcPts val="23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2224" y="2902148"/>
            <a:ext cx="7124700" cy="119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automobile industry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being capital-intensive, requires heavy investment in plants, machinery, and inventory. As a result, automobile companies generally rely more on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support their large asset base.</a:t>
            </a:r>
          </a:p>
          <a:p>
            <a:pPr marL="0" indent="0" algn="l">
              <a:lnSpc>
                <a:spcPts val="23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2224" y="4262316"/>
            <a:ext cx="7124700" cy="2846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contrast, the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industry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follows an asset-light model, depending mainly on intellectual capital with minimal physical infrastructure. These firms typically maintain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debt levels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prefer internal financing. This study compares how these different leverage patterns impact financial performance in both industries.</a:t>
            </a:r>
          </a:p>
          <a:p>
            <a:pPr marL="0" indent="0" algn="l">
              <a:lnSpc>
                <a:spcPts val="2300"/>
              </a:lnSpc>
              <a:buNone/>
            </a:pPr>
            <a:endParaRPr lang="en-US" sz="16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comparative study examines 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leverage decisions influence performance outcomes across these two fundamentally  different industrial sectors.</a:t>
            </a:r>
            <a:endParaRPr lang="en-US" sz="1600" dirty="0"/>
          </a:p>
          <a:p>
            <a:pPr marL="0" indent="0" algn="l">
              <a:lnSpc>
                <a:spcPts val="2300"/>
              </a:lnSpc>
              <a:buNone/>
            </a:pP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25" y="952943"/>
            <a:ext cx="5746552" cy="57465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4240"/>
            <a:ext cx="6677740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Objectives of the Study</a:t>
            </a:r>
            <a:endParaRPr lang="en-US" sz="415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3545" y="1672947"/>
            <a:ext cx="4239458" cy="3331250"/>
          </a:xfrm>
          <a:prstGeom prst="roundRect">
            <a:avLst>
              <a:gd name="adj" fmla="val 267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3573" y="1892975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8833" y="2068235"/>
            <a:ext cx="286822" cy="286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573" y="2742724"/>
            <a:ext cx="2926675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Capital Structure Analysis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63573" y="3202067"/>
            <a:ext cx="3799403" cy="158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 and compare capital structure patterns between the Automobile and IT sectors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95411" y="1672947"/>
            <a:ext cx="4239458" cy="3331250"/>
          </a:xfrm>
          <a:prstGeom prst="roundRect">
            <a:avLst>
              <a:gd name="adj" fmla="val 267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15439" y="1892975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0699" y="2068235"/>
            <a:ext cx="286822" cy="286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15439" y="2742724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Calculate Key Ratios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5415439" y="3202067"/>
            <a:ext cx="379940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Debt-Equity Ratio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415439" y="3616166"/>
            <a:ext cx="379940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 Coverage Ratio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15439" y="4030266"/>
            <a:ext cx="379940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Assets (ROA)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15439" y="4444365"/>
            <a:ext cx="379940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Equity (ROE)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9647277" y="1672947"/>
            <a:ext cx="4239458" cy="3331250"/>
          </a:xfrm>
          <a:prstGeom prst="roundRect">
            <a:avLst>
              <a:gd name="adj" fmla="val 267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867305" y="1892975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2565" y="2068235"/>
            <a:ext cx="286822" cy="286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7305" y="2742724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Leverage Classification</a:t>
            </a:r>
            <a:endParaRPr lang="en-US" sz="2050" dirty="0"/>
          </a:p>
        </p:txBody>
      </p:sp>
      <p:sp>
        <p:nvSpPr>
          <p:cNvPr id="20" name="Text 15"/>
          <p:cNvSpPr/>
          <p:nvPr/>
        </p:nvSpPr>
        <p:spPr>
          <a:xfrm>
            <a:off x="9867305" y="3202067"/>
            <a:ext cx="3799403" cy="1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Categorise firms as </a:t>
            </a:r>
            <a:r>
              <a:rPr lang="en-US" sz="2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under-leveraged</a:t>
            </a: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</a:t>
            </a:r>
            <a:r>
              <a:rPr lang="en-US" sz="20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over-leveraged</a:t>
            </a: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 optimal capital structure benchmarks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43545" y="5216604"/>
            <a:ext cx="6465332" cy="2428756"/>
          </a:xfrm>
          <a:prstGeom prst="roundRect">
            <a:avLst>
              <a:gd name="adj" fmla="val 36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63573" y="5436632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8833" y="5611892"/>
            <a:ext cx="286822" cy="2868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3573" y="6286381"/>
            <a:ext cx="2719149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Performance Evaluation</a:t>
            </a:r>
            <a:endParaRPr lang="en-US" sz="2050" dirty="0"/>
          </a:p>
        </p:txBody>
      </p:sp>
      <p:sp>
        <p:nvSpPr>
          <p:cNvPr id="25" name="Text 19"/>
          <p:cNvSpPr/>
          <p:nvPr/>
        </p:nvSpPr>
        <p:spPr>
          <a:xfrm>
            <a:off x="963573" y="6745724"/>
            <a:ext cx="6025277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the impact of leverage on firm performance across both industries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7421285" y="5216604"/>
            <a:ext cx="6465451" cy="2428756"/>
          </a:xfrm>
          <a:prstGeom prst="roundRect">
            <a:avLst>
              <a:gd name="adj" fmla="val 367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7641312" y="5436632"/>
            <a:ext cx="637342" cy="637342"/>
          </a:xfrm>
          <a:prstGeom prst="roundRect">
            <a:avLst>
              <a:gd name="adj" fmla="val 1434565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6572" y="5611892"/>
            <a:ext cx="286822" cy="28682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41312" y="6286381"/>
            <a:ext cx="3164681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Recommendations</a:t>
            </a:r>
            <a:endParaRPr lang="en-US" sz="2050" dirty="0"/>
          </a:p>
        </p:txBody>
      </p:sp>
      <p:sp>
        <p:nvSpPr>
          <p:cNvPr id="30" name="Text 23"/>
          <p:cNvSpPr/>
          <p:nvPr/>
        </p:nvSpPr>
        <p:spPr>
          <a:xfrm>
            <a:off x="7641312" y="6745724"/>
            <a:ext cx="6025396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industry-specific guidance for optimal capital structure decisions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154" y="579477"/>
            <a:ext cx="6257679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Conceptual Background</a:t>
            </a:r>
            <a:endParaRPr lang="en-US" sz="375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1155" y="1255395"/>
            <a:ext cx="322385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Capital Structure Theories</a:t>
            </a:r>
            <a:endParaRPr lang="en-US" sz="225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1155" y="1902500"/>
            <a:ext cx="6548199" cy="2070973"/>
          </a:xfrm>
          <a:prstGeom prst="roundRect">
            <a:avLst>
              <a:gd name="adj" fmla="val 388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85706" y="2117050"/>
            <a:ext cx="282606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Modigliani–Miller Theorem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85706" y="2531626"/>
            <a:ext cx="6119098" cy="122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structure is irrelevant to firm value in perfect markets with no taxes, bankruptcy costs, or information asymmetry. This foundational theory establishes the baseline for understanding real-world deviations.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11045" y="1902500"/>
            <a:ext cx="6548199" cy="2070973"/>
          </a:xfrm>
          <a:prstGeom prst="roundRect">
            <a:avLst>
              <a:gd name="adj" fmla="val 3889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25596" y="2117050"/>
            <a:ext cx="239696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Trade-Off Theory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25596" y="2531626"/>
            <a:ext cx="6119098" cy="9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Firms balance the </a:t>
            </a:r>
            <a:r>
              <a:rPr lang="en-US" sz="150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tax benefits of debt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against potential bankruptcy costs and financial distress. Optimal leverage occurs where marginal benefits equal marginal costs.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1155" y="4165163"/>
            <a:ext cx="6548199" cy="1764149"/>
          </a:xfrm>
          <a:prstGeom prst="roundRect">
            <a:avLst>
              <a:gd name="adj" fmla="val 4565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5706" y="4379714"/>
            <a:ext cx="239696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Pecking Order Theory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85706" y="4794290"/>
            <a:ext cx="6119098" cy="9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Firms follow a financing hierarchy: </a:t>
            </a: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funds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debt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→ </a:t>
            </a: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based on information asymmetry and the costs associated with external financing.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11045" y="4165163"/>
            <a:ext cx="6548199" cy="1764149"/>
          </a:xfrm>
          <a:prstGeom prst="roundRect">
            <a:avLst>
              <a:gd name="adj" fmla="val 4565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25596" y="4379714"/>
            <a:ext cx="2396966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Agency Cost Theory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25596" y="4794290"/>
            <a:ext cx="6119098" cy="9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Debt serves as a disciplining mechanism for managers, reducing free cash flow problems. However, excessive debt increases risk and potential conflicts between stakeholders.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1155" y="6240739"/>
            <a:ext cx="13288089" cy="31552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8533" y="6679525"/>
            <a:ext cx="2696670" cy="9125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Debt-Equity Ratio</a:t>
            </a:r>
          </a:p>
          <a:p>
            <a:pPr marL="0" indent="0" algn="ctr">
              <a:lnSpc>
                <a:spcPts val="2350"/>
              </a:lnSpc>
              <a:buNone/>
            </a:pPr>
            <a:endParaRPr lang="en-US" sz="1850" b="1" dirty="0">
              <a:solidFill>
                <a:srgbClr val="443728"/>
              </a:solidFill>
              <a:latin typeface="Crimson Pro Bold" pitchFamily="34" charset="0"/>
              <a:ea typeface="Crimson Pro Bold" pitchFamily="34" charset="-122"/>
            </a:endParaRPr>
          </a:p>
          <a:p>
            <a:pPr algn="ctr">
              <a:lnSpc>
                <a:spcPts val="2350"/>
              </a:lnSpc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financial leverage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4053262" y="6650511"/>
            <a:ext cx="2476325" cy="9705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Interest Coverage</a:t>
            </a:r>
          </a:p>
          <a:p>
            <a:pPr marL="0" indent="0" algn="ctr">
              <a:lnSpc>
                <a:spcPts val="2350"/>
              </a:lnSpc>
              <a:buNone/>
            </a:pPr>
            <a:endParaRPr lang="en-US" sz="1850" b="1" dirty="0">
              <a:solidFill>
                <a:srgbClr val="443728"/>
              </a:solidFill>
              <a:latin typeface="Crimson Pro Bold" pitchFamily="34" charset="0"/>
              <a:ea typeface="Crimson Pro Bold" pitchFamily="34" charset="-122"/>
            </a:endParaRPr>
          </a:p>
          <a:p>
            <a:pPr algn="ctr">
              <a:lnSpc>
                <a:spcPts val="2350"/>
              </a:lnSpc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Debt servicing capacity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418852" y="6685478"/>
            <a:ext cx="2603710" cy="97059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ROA             </a:t>
            </a:r>
          </a:p>
          <a:p>
            <a:pPr algn="ctr">
              <a:lnSpc>
                <a:spcPts val="2350"/>
              </a:lnSpc>
            </a:pPr>
            <a:endParaRPr lang="en-US" sz="1850" b="1" dirty="0">
              <a:solidFill>
                <a:srgbClr val="443728"/>
              </a:solidFill>
              <a:latin typeface="Crimson Pro Bold" pitchFamily="34" charset="0"/>
              <a:ea typeface="Crimson Pro Bold" pitchFamily="34" charset="-122"/>
              <a:cs typeface="Open Sans" pitchFamily="34" charset="-120"/>
            </a:endParaRPr>
          </a:p>
          <a:p>
            <a:pPr algn="ctr">
              <a:lnSpc>
                <a:spcPts val="2350"/>
              </a:lnSpc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 utilization efficiency</a:t>
            </a:r>
            <a:endParaRPr lang="en-US" sz="1600" dirty="0"/>
          </a:p>
          <a:p>
            <a:pPr marL="0" indent="0" algn="ctr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11010662" y="6685478"/>
            <a:ext cx="2734032" cy="90661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ROE</a:t>
            </a:r>
          </a:p>
          <a:p>
            <a:pPr marL="0" indent="0" algn="ctr">
              <a:lnSpc>
                <a:spcPts val="2350"/>
              </a:lnSpc>
              <a:buNone/>
            </a:pPr>
            <a:endParaRPr lang="en-US" sz="1850" b="1" dirty="0">
              <a:solidFill>
                <a:srgbClr val="443728"/>
              </a:solidFill>
              <a:latin typeface="Crimson Pro Bold" pitchFamily="34" charset="0"/>
              <a:ea typeface="Crimson Pro Bold" pitchFamily="34" charset="-122"/>
            </a:endParaRPr>
          </a:p>
          <a:p>
            <a:pPr algn="ctr">
              <a:lnSpc>
                <a:spcPts val="2350"/>
              </a:lnSpc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Shareholder value creation</a:t>
            </a:r>
            <a:endParaRPr lang="en-US" sz="1600" dirty="0"/>
          </a:p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40" y="373142"/>
            <a:ext cx="3393043" cy="424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Data &amp; Methodology</a:t>
            </a:r>
            <a:endParaRPr lang="en-US" sz="265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4939" y="1034534"/>
            <a:ext cx="49097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4940" y="1368504"/>
            <a:ext cx="6674763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74940" y="1466731"/>
            <a:ext cx="1696522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Industry Selection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4940" y="1814393"/>
            <a:ext cx="66747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Automobile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Technology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sectors chosen for their contrasting capital structures and operational characteristics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4940" y="2486025"/>
            <a:ext cx="135612" cy="16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74940" y="2701171"/>
            <a:ext cx="6674763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4940" y="2799398"/>
            <a:ext cx="1696522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Collection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4940" y="3147060"/>
            <a:ext cx="66747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Secondary data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spanning the last five years, sourced from Screener.in, Moneycontrol, and published annual reports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095" y="3756064"/>
            <a:ext cx="284914" cy="271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4940" y="4033838"/>
            <a:ext cx="6674763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4940" y="4132064"/>
            <a:ext cx="1696522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Sample</a:t>
            </a: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</a:t>
            </a: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4940" y="4479727"/>
            <a:ext cx="66747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3–5 representative companies from each industry, selected based on market capitalisation and data availability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4940" y="5151358"/>
            <a:ext cx="135612" cy="16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4940" y="5366504"/>
            <a:ext cx="6674763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4940" y="5464731"/>
            <a:ext cx="1696522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Analytical Tools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4940" y="5812393"/>
            <a:ext cx="66747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Excel employed for ratio calculations, trend analysis, and visualisation through charts and comparative tables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4940" y="6484025"/>
            <a:ext cx="135612" cy="16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74940" y="6699171"/>
            <a:ext cx="6674763" cy="1524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4940" y="6797397"/>
            <a:ext cx="1696522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Analytical Framework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4940" y="7145060"/>
            <a:ext cx="667476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leverage and profitability trends, classify firms by leverage position, and evaluate performance implications</a:t>
            </a:r>
            <a:endParaRPr lang="en-US" sz="16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872" y="708201"/>
            <a:ext cx="4746613" cy="4746613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623929" y="6177781"/>
            <a:ext cx="6759535" cy="1015070"/>
          </a:xfrm>
          <a:prstGeom prst="roundRect">
            <a:avLst>
              <a:gd name="adj" fmla="val 7183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929" y="8191500"/>
            <a:ext cx="169545" cy="13561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20885" y="6297769"/>
            <a:ext cx="6581104" cy="71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Period: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Five-year longitudinal analysis enables identification of trends whilst minimising the impact of short-term market volatility.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571" y="156210"/>
            <a:ext cx="7128629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Analysis – Automobile Industry</a:t>
            </a:r>
            <a:endParaRPr lang="en-US" sz="36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6571" y="970486"/>
            <a:ext cx="5724882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Insights and Financial Characteristics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91108" y="1529499"/>
            <a:ext cx="4612061" cy="2526023"/>
          </a:xfrm>
          <a:prstGeom prst="roundRect">
            <a:avLst>
              <a:gd name="adj" fmla="val 546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3419" y="1681543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Higher Debt Usage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32366" y="2144963"/>
            <a:ext cx="4383427" cy="183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Automobile firms consistently demonstrate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substantially higher debt utilisation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compared to IT firms, reflecting the capital-intensive nature of manufacturing operations, extensive distribution networks, and inventory requirements.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1120" y="4497041"/>
            <a:ext cx="2840504" cy="3452793"/>
          </a:xfrm>
          <a:prstGeom prst="roundRect">
            <a:avLst>
              <a:gd name="adj" fmla="val 5468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25565" y="4579386"/>
            <a:ext cx="2756059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Mixed Interest Coverage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096458" y="4960815"/>
            <a:ext cx="2614272" cy="295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Interest coverage ratios exhibit considerable variability across firms, with some companies struggling under the burden of capital structure obligations, particularly during periods of declining sales or margin compression.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0968" y="4429469"/>
            <a:ext cx="3150882" cy="3491038"/>
          </a:xfrm>
          <a:prstGeom prst="roundRect">
            <a:avLst>
              <a:gd name="adj" fmla="val 6274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9955" y="4585217"/>
            <a:ext cx="2941082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Volatile ROE Performance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99955" y="5039975"/>
            <a:ext cx="2816732" cy="276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 on equity tends to be volatile due to the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cyclical demand patterns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inherent to the automobile sector, influenced by economic conditions, consumer sentiment, and regulatory changes.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7051" y="4452979"/>
            <a:ext cx="3146463" cy="3543969"/>
          </a:xfrm>
          <a:prstGeom prst="roundRect">
            <a:avLst>
              <a:gd name="adj" fmla="val 6274"/>
            </a:avLst>
          </a:prstGeom>
          <a:solidFill>
            <a:srgbClr val="FFFCFA"/>
          </a:solidFill>
          <a:ln w="3048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50885" y="4585217"/>
            <a:ext cx="26884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Over-Leveraged Firms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764418" y="5006996"/>
            <a:ext cx="2740067" cy="2942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Several firms appear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over-leveraged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facing challenges in maintaining financial stability during downturns. High fixed costs combined with substantial debt servicing obligations create vulnerability to market fluctuations.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A6348D-2E22-1819-D06A-BF1206A54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35" y="1172118"/>
            <a:ext cx="3828595" cy="26311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8B96CD7-C005-FCBC-4839-C8094E39A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072" y="79638"/>
            <a:ext cx="3766182" cy="25882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3206BB1-CCE9-EDF0-928A-DA1F94272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2" y="2826735"/>
            <a:ext cx="3828595" cy="255149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F97B5B6-7A5A-FF1D-1C38-A04538954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252" y="5479960"/>
            <a:ext cx="3887165" cy="2650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867" y="111917"/>
            <a:ext cx="5434132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Analysis – IT Industry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4701" y="804742"/>
            <a:ext cx="5784056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Insights and Financial Characteristics</a:t>
            </a:r>
            <a:endParaRPr lang="en-US" sz="255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0754" y="1413253"/>
            <a:ext cx="3540854" cy="2986551"/>
          </a:xfrm>
          <a:prstGeom prst="roundRect">
            <a:avLst>
              <a:gd name="adj" fmla="val 343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74702" y="1528475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Minimal Debt Levels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4702" y="1922601"/>
            <a:ext cx="3379867" cy="2341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firms maintain </a:t>
            </a:r>
            <a:r>
              <a:rPr lang="en-US" sz="140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very low or zero debt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their balance sheets, reflecting their asset-light business model and strong internal cash generation capabilities. This conservative approach reduces financial risk whilst maintaining strategic flexibility.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24140" y="1413252"/>
            <a:ext cx="3207725" cy="3042837"/>
          </a:xfrm>
          <a:prstGeom prst="roundRect">
            <a:avLst>
              <a:gd name="adj" fmla="val 343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11218" y="1449448"/>
            <a:ext cx="283356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Strong Interest Coverage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011218" y="1922601"/>
            <a:ext cx="2904737" cy="233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minimal borrowing requirements, IT firms exhibit </a:t>
            </a: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exceptionally strong interest coverage ratios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robust debt servicing capacity and low financial distress risk even during challenging market conditions.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754" y="4624147"/>
            <a:ext cx="3372631" cy="3438581"/>
          </a:xfrm>
          <a:prstGeom prst="roundRect">
            <a:avLst>
              <a:gd name="adj" fmla="val 343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0822" y="4759865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Superior Profitability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70822" y="5244486"/>
            <a:ext cx="3090564" cy="289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sector demonstrates </a:t>
            </a:r>
            <a:r>
              <a:rPr lang="en-US" sz="140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ROA and ROE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metrics, attributed to asset-light operations, high-margin services, scalable business models, and the ability to generate substantial returns without significant capital investment.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9526" y="4679264"/>
            <a:ext cx="3260182" cy="3370155"/>
          </a:xfrm>
          <a:prstGeom prst="roundRect">
            <a:avLst>
              <a:gd name="adj" fmla="val 3434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8596" y="4792092"/>
            <a:ext cx="3002042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Under-Leveraged Position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52584" y="5244485"/>
            <a:ext cx="2998054" cy="263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firms are </a:t>
            </a: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under-leveraged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maintaining comfortable liquidity positions and favourable risk profiles. Whilst this conservatism ensures stability, it may represent foregone opportunities to enhance ROE through judicious use of financial leverage.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C9C0E8-EFB1-63B0-1AAA-338408120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125" y="3829609"/>
            <a:ext cx="3464514" cy="260409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78D812-E182-A120-5931-0E96E3DE1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124" y="204374"/>
            <a:ext cx="3464515" cy="25066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0D0568-3AA0-14AD-CAB0-77BA7A607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156" y="5480257"/>
            <a:ext cx="3757808" cy="25824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6630F2-15C3-8DB1-821A-21D63BB0F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943" y="1903151"/>
            <a:ext cx="3636021" cy="25824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6295" y="159768"/>
            <a:ext cx="4420314" cy="46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Cross-Industry Comparison</a:t>
            </a:r>
            <a:endParaRPr lang="en-US" sz="36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49620" y="767634"/>
            <a:ext cx="3627180" cy="3275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Automobile Industry Profile</a:t>
            </a:r>
            <a:endParaRPr lang="en-US" sz="20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0338" y="1424331"/>
            <a:ext cx="2720548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15969" y="2009375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Debt-Equity Ratio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608" y="2331299"/>
            <a:ext cx="3209449" cy="327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Substantial leverage reflects capital </a:t>
            </a:r>
          </a:p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intensity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06489" y="1340876"/>
            <a:ext cx="3209568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4472823" y="1990690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ROA / ROE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19419" y="2348886"/>
            <a:ext cx="3099625" cy="494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 returns on assets and </a:t>
            </a:r>
          </a:p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807125" y="2926812"/>
            <a:ext cx="3209449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LOW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0" y="3473155"/>
            <a:ext cx="1876901" cy="25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Interest Coverage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242336" y="3840726"/>
            <a:ext cx="320944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ICR indicates debt burden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957611" y="698465"/>
            <a:ext cx="2764476" cy="3026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Industry Profile</a:t>
            </a:r>
          </a:p>
        </p:txBody>
      </p:sp>
      <p:sp>
        <p:nvSpPr>
          <p:cNvPr id="14" name="Text 12"/>
          <p:cNvSpPr/>
          <p:nvPr/>
        </p:nvSpPr>
        <p:spPr>
          <a:xfrm>
            <a:off x="7315200" y="1287889"/>
            <a:ext cx="3209449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LOW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7867769" y="1974804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Debt-Equity Ratio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11357" y="2372733"/>
            <a:ext cx="320944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leverage in asset-light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31818" y="1263730"/>
            <a:ext cx="3209568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1747659" y="1894911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ROA / ROE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86741" y="2396879"/>
            <a:ext cx="320956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Superior returns across both 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83705" y="2925916"/>
            <a:ext cx="2667539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HIGH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1495486" y="3543808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Interest Coverage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508" y="3874651"/>
            <a:ext cx="3209449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Exceptionally strong debt capacity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1" y="4397522"/>
            <a:ext cx="3408318" cy="3275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Critical Performance Distinctions</a:t>
            </a:r>
            <a:endParaRPr lang="en-US" sz="16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3233" y="5101489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Leverage 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0338" y="5499778"/>
            <a:ext cx="4235768" cy="72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Over-leveraged automobile firms face persistent pressure on profitability due to high interest obligations and fixed costs, particularly during cyclical downturns.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0853" y="6687992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Stability Patterns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0853" y="6982913"/>
            <a:ext cx="4235768" cy="72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firms demonstrate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stable returns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 without leverage benefits, relying on operational excellence rather than financial engineering.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32668" y="6512337"/>
            <a:ext cx="1876901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Industry Dynamics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32668" y="6971054"/>
            <a:ext cx="4375309" cy="72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outcomes are fundamentally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industry-driven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capital-intensive manufacturing versus knowledge-driven services.</a:t>
            </a:r>
            <a:endParaRPr lang="en-US" sz="1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8CF83F8-0BC7-2EE1-AE71-130B4C25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697" y="3076745"/>
            <a:ext cx="3494272" cy="23823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65AC067-9ED6-E8D6-03A1-EFDD5C9EC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657" y="3928109"/>
            <a:ext cx="3494272" cy="24013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BC34310-795C-7843-ED22-663330A91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617" y="5529300"/>
            <a:ext cx="3739930" cy="2435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621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Findings &amp; Recommendations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8321" y="112668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Findings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678" y="1524416"/>
            <a:ext cx="170021" cy="170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4064" y="1497132"/>
            <a:ext cx="187809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Leverage-Performance Paradox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5334" y="1780222"/>
            <a:ext cx="641151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leverage does not correlate with superior performance in the automobile industry, challenging traditional assumptions about debt benefits.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192" y="2475329"/>
            <a:ext cx="170021" cy="170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75" y="2460655"/>
            <a:ext cx="2050038" cy="16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IT Sector Resilience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56434" y="2835559"/>
            <a:ext cx="641151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firms achieve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returns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minimal debt, demonstrating that operational efficiency can surpass leverage benefits.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330" y="3445397"/>
            <a:ext cx="170021" cy="170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6433" y="3412622"/>
            <a:ext cx="252767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Over-Leverage Consequences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710023" y="3836600"/>
            <a:ext cx="641151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Firms with excessive debt suffer from interest burden pressures and low interest coverage ratios, constraining strategic flexibility.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181" y="4594681"/>
            <a:ext cx="170021" cy="1700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1770" y="4661334"/>
            <a:ext cx="2506457" cy="325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Optimal Structure Matters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10023" y="5151470"/>
            <a:ext cx="641151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Firms maintaining 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leverage</a:t>
            </a:r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outperform both under-leveraged and over-leveraged peers across both sectors.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873295" y="1141479"/>
            <a:ext cx="4238105" cy="55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Strategic Recommendations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78" y="5661711"/>
            <a:ext cx="5425894" cy="241810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461171" y="8197215"/>
            <a:ext cx="6780014" cy="2292668"/>
          </a:xfrm>
          <a:prstGeom prst="roundRect">
            <a:avLst>
              <a:gd name="adj" fmla="val 207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2"/>
          <p:cNvSpPr/>
          <p:nvPr/>
        </p:nvSpPr>
        <p:spPr>
          <a:xfrm>
            <a:off x="7468791" y="8204835"/>
            <a:ext cx="6764774" cy="698659"/>
          </a:xfrm>
          <a:prstGeom prst="roundRect">
            <a:avLst>
              <a:gd name="adj" fmla="val 6818"/>
            </a:avLst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7582138" y="831818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Automobile Sector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7582138" y="8608695"/>
            <a:ext cx="653807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excessive debt levels, improve interest coverage ratios, and prioritise operational efficiency over financial leverage.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7468791" y="8903494"/>
            <a:ext cx="6764774" cy="880110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6"/>
          <p:cNvSpPr/>
          <p:nvPr/>
        </p:nvSpPr>
        <p:spPr>
          <a:xfrm>
            <a:off x="7468791" y="8903494"/>
            <a:ext cx="6764774" cy="1524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7582138" y="901684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IT Sector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582138" y="9307354"/>
            <a:ext cx="653807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 moderate, strategic debt deployment to enhance ROE whilst maintaining the sector's characteristic financial stability.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7468791" y="9783604"/>
            <a:ext cx="6764774" cy="698659"/>
          </a:xfrm>
          <a:prstGeom prst="rect">
            <a:avLst/>
          </a:prstGeom>
          <a:solidFill>
            <a:srgbClr val="EBE2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0"/>
          <p:cNvSpPr/>
          <p:nvPr/>
        </p:nvSpPr>
        <p:spPr>
          <a:xfrm>
            <a:off x="7468791" y="9783604"/>
            <a:ext cx="6764774" cy="15240"/>
          </a:xfrm>
          <a:prstGeom prst="roundRect">
            <a:avLst>
              <a:gd name="adj" fmla="val 312558"/>
            </a:avLst>
          </a:prstGeom>
          <a:solidFill>
            <a:srgbClr val="D1C8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7582138" y="989695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Investor Guidance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582138" y="10187464"/>
            <a:ext cx="653807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DE ratio, ICR, and ROA/ROE trends comprehensively before making investment decisions.</a:t>
            </a:r>
            <a:endParaRPr lang="en-US" sz="8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7BEB5B-AB3E-A383-E605-57AC9A263E84}"/>
              </a:ext>
            </a:extLst>
          </p:cNvPr>
          <p:cNvSpPr txBox="1"/>
          <p:nvPr/>
        </p:nvSpPr>
        <p:spPr>
          <a:xfrm>
            <a:off x="7582138" y="1908078"/>
            <a:ext cx="67800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Automobile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Reduce debt; improve ICR.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Adopt asset-light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</a:t>
            </a:r>
            <a:r>
              <a:rPr lang="en-US" sz="1800" dirty="0"/>
              <a:t>mprove working capital.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Invest in EV and digitalization.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 hybrid financing to reduce risk.</a:t>
            </a: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D12C08CA-4271-1B69-D707-E8B9CACA9EFE}"/>
              </a:ext>
            </a:extLst>
          </p:cNvPr>
          <p:cNvSpPr/>
          <p:nvPr/>
        </p:nvSpPr>
        <p:spPr>
          <a:xfrm>
            <a:off x="7665851" y="4349749"/>
            <a:ext cx="5358570" cy="1754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IT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moderate debt to enhance ROE.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 in cloud, AI, and cybersecurity.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cash utilization and payouts.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 talent retention and delivery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global currency exposure.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605" y="656153"/>
            <a:ext cx="4640580" cy="58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rimson Pro Bold" pitchFamily="34" charset="-122"/>
                <a:cs typeface="Crimson Pro Bold" pitchFamily="34" charset="-120"/>
              </a:rPr>
              <a:t>Conclusion</a:t>
            </a:r>
            <a:endParaRPr lang="en-US" sz="365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9605" y="1885831"/>
            <a:ext cx="6572726" cy="1964650"/>
          </a:xfrm>
          <a:prstGeom prst="roundRect">
            <a:avLst>
              <a:gd name="adj" fmla="val 5585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9605" y="1862971"/>
            <a:ext cx="6572726" cy="91440"/>
          </a:xfrm>
          <a:prstGeom prst="roundRect">
            <a:avLst>
              <a:gd name="adj" fmla="val 852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1607463"/>
            <a:ext cx="556855" cy="556855"/>
          </a:xfrm>
          <a:prstGeom prst="roundRect">
            <a:avLst>
              <a:gd name="adj" fmla="val 16420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24585" y="1746647"/>
            <a:ext cx="22264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8083" y="2349818"/>
            <a:ext cx="2457569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Industry-Specific Impact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8083" y="2751177"/>
            <a:ext cx="6155769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structure significantly affects firm performance, with effects varying substantially by industry characteristics and operational requirements.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7950" y="1885831"/>
            <a:ext cx="6572845" cy="1964650"/>
          </a:xfrm>
          <a:prstGeom prst="roundRect">
            <a:avLst>
              <a:gd name="adj" fmla="val 5585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07950" y="1862971"/>
            <a:ext cx="6572845" cy="91440"/>
          </a:xfrm>
          <a:prstGeom prst="roundRect">
            <a:avLst>
              <a:gd name="adj" fmla="val 852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415885" y="1607463"/>
            <a:ext cx="556855" cy="556855"/>
          </a:xfrm>
          <a:prstGeom prst="roundRect">
            <a:avLst>
              <a:gd name="adj" fmla="val 16420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82930" y="1746647"/>
            <a:ext cx="22264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16428" y="2349818"/>
            <a:ext cx="2440305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Contrasting Risk Profiles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16428" y="2751177"/>
            <a:ext cx="6155888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automobile industry's high debt levels elevate financial risk and vulnerability to cyclical downturns, whilst the IT industry's low leverage results in </a:t>
            </a:r>
            <a:r>
              <a:rPr lang="en-US" sz="14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liquidity and consistent profitability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605" y="4314468"/>
            <a:ext cx="6572726" cy="1964650"/>
          </a:xfrm>
          <a:prstGeom prst="roundRect">
            <a:avLst>
              <a:gd name="adj" fmla="val 5585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9605" y="4291608"/>
            <a:ext cx="6572726" cy="91440"/>
          </a:xfrm>
          <a:prstGeom prst="roundRect">
            <a:avLst>
              <a:gd name="adj" fmla="val 852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540" y="4036100"/>
            <a:ext cx="556855" cy="556855"/>
          </a:xfrm>
          <a:prstGeom prst="roundRect">
            <a:avLst>
              <a:gd name="adj" fmla="val 16420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24585" y="4175284"/>
            <a:ext cx="22264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58083" y="4778454"/>
            <a:ext cx="267390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Optimal Leverage Principle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8083" y="5179814"/>
            <a:ext cx="6155769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leverage, not maximum leverage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enhances shareholder value. The key lies in balancing tax benefits, financial flexibility, and risk exposure.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7950" y="4314468"/>
            <a:ext cx="6572845" cy="1964650"/>
          </a:xfrm>
          <a:prstGeom prst="roundRect">
            <a:avLst>
              <a:gd name="adj" fmla="val 5585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07950" y="4291608"/>
            <a:ext cx="6572845" cy="91440"/>
          </a:xfrm>
          <a:prstGeom prst="roundRect">
            <a:avLst>
              <a:gd name="adj" fmla="val 852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415885" y="4036100"/>
            <a:ext cx="556855" cy="556855"/>
          </a:xfrm>
          <a:prstGeom prst="roundRect">
            <a:avLst>
              <a:gd name="adj" fmla="val 16420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582930" y="4175284"/>
            <a:ext cx="22264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16428" y="4778454"/>
            <a:ext cx="2320290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Strategic Insight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16428" y="5179814"/>
            <a:ext cx="6155888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study demonstrates conclusively that </a:t>
            </a:r>
            <a:r>
              <a:rPr lang="en-US" sz="14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industry characteristics fundamentally shape capital structure decisions</a:t>
            </a:r>
            <a:r>
              <a:rPr lang="en-US" sz="14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that universal prescriptions are inappropriate for capital structure optimisation.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9605" y="6487835"/>
            <a:ext cx="13331190" cy="1085612"/>
          </a:xfrm>
          <a:prstGeom prst="roundRect">
            <a:avLst>
              <a:gd name="adj" fmla="val 7181"/>
            </a:avLst>
          </a:prstGeom>
          <a:solidFill>
            <a:srgbClr val="E1D4D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23" y="6770608"/>
            <a:ext cx="231934" cy="18561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52776" y="6719768"/>
            <a:ext cx="12542401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Thought: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Successful capital structure management requires deep understanding of industry dynamics, operational requirements, and market conditions rather than adherence to generic financial ratios.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1282</Words>
  <Application>Microsoft Office PowerPoint</Application>
  <PresentationFormat>Custom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 Light</vt:lpstr>
      <vt:lpstr>Open Sans</vt:lpstr>
      <vt:lpstr>Crimson Pro Bold</vt:lpstr>
      <vt:lpstr>Crimson Pro Light</vt:lpstr>
      <vt:lpstr>Algerian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a.saini2002@gmail.com</cp:lastModifiedBy>
  <cp:revision>25</cp:revision>
  <dcterms:created xsi:type="dcterms:W3CDTF">2025-11-19T18:36:21Z</dcterms:created>
  <dcterms:modified xsi:type="dcterms:W3CDTF">2026-10-15T14:36:34Z</dcterms:modified>
</cp:coreProperties>
</file>